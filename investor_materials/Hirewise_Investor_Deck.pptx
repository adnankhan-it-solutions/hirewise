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463040"/>
            <a:ext cx="5760720" cy="5760720"/>
          </a:xfrm>
          <a:prstGeom prst="ellipse">
            <a:avLst/>
          </a:prstGeom>
          <a:solidFill>
            <a:srgbClr val="1A4E44"/>
          </a:solidFill>
          <a:ln>
            <a:solidFill>
              <a:srgbClr val="1A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0"/>
            <a:ext cx="4023360" cy="4023360"/>
          </a:xfrm>
          <a:prstGeom prst="ellipse">
            <a:avLst/>
          </a:prstGeom>
          <a:solidFill>
            <a:srgbClr val="D5EB8B"/>
          </a:solidFill>
          <a:ln>
            <a:solidFill>
              <a:srgbClr val="D5E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0" y="502920"/>
            <a:ext cx="3017520" cy="3017520"/>
          </a:xfrm>
          <a:prstGeom prst="ellipse">
            <a:avLst/>
          </a:prstGeom>
          <a:solidFill>
            <a:srgbClr val="F8F8EF"/>
          </a:solidFill>
          <a:ln>
            <a:solidFill>
              <a:srgbClr val="F8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822960"/>
            <a:ext cx="237744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583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5EB8B"/>
                </a:solidFill>
                <a:latin typeface="Aptos"/>
              </a:rPr>
              <a:t>HIREWISE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64922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Smarter hiring.
Fairer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154680"/>
            <a:ext cx="6035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BF1DF"/>
                </a:solidFill>
                <a:latin typeface="Aptos"/>
              </a:rPr>
              <a:t>AI-assisted recruitment infrastructure for Qatar—
built around evidence, privacy and human judgment.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09160"/>
            <a:ext cx="5257800" cy="987552"/>
          </a:xfrm>
          <a:prstGeom prst="roundRect">
            <a:avLst/>
          </a:prstGeom>
          <a:solidFill>
            <a:srgbClr val="1A4E44"/>
          </a:solidFill>
          <a:ln w="12700">
            <a:solidFill>
              <a:srgbClr val="1A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98348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5EB8B"/>
                </a:solidFill>
                <a:latin typeface="Aptos"/>
              </a:rPr>
              <a:t>INVESTOR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493776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Pre-seed concept &amp; MVP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6263640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BF1DF"/>
                </a:solidFill>
                <a:latin typeface="Aptos"/>
              </a:rPr>
              <a:t>September 2026  ·  Doha, Qatar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D3932"/>
                </a:solidFill>
                <a:latin typeface="Aptos"/>
              </a:rPr>
              <a:t>Hiring teams see volume. They need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09344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F7169"/>
                </a:solidFill>
                <a:latin typeface="Aptos"/>
              </a:rPr>
              <a:t>Recruitment tools often optimize workflow without improving the quality, transparency or privacy of evaluation.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2240280"/>
            <a:ext cx="3474720" cy="3246120"/>
          </a:xfrm>
          <a:prstGeom prst="roundRect">
            <a:avLst/>
          </a:prstGeom>
          <a:solidFill>
            <a:srgbClr val="F8F8EF"/>
          </a:solidFill>
          <a:ln w="12700">
            <a:solidFill>
              <a:srgbClr val="DA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9631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F7169"/>
                </a:solidFill>
                <a:latin typeface="Aptos"/>
              </a:rPr>
              <a:t>01</a:t>
            </a:r>
          </a:p>
        </p:txBody>
      </p:sp>
      <p:sp>
        <p:nvSpPr>
          <p:cNvPr id="8" name="Oval 7"/>
          <p:cNvSpPr/>
          <p:nvPr/>
        </p:nvSpPr>
        <p:spPr>
          <a:xfrm>
            <a:off x="3310128" y="2395728"/>
            <a:ext cx="457200" cy="457200"/>
          </a:xfrm>
          <a:prstGeom prst="ellipse">
            <a:avLst/>
          </a:prstGeom>
          <a:solidFill>
            <a:srgbClr val="D5EB8B"/>
          </a:solidFill>
          <a:ln>
            <a:solidFill>
              <a:srgbClr val="D5E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90672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D3932"/>
                </a:solidFill>
                <a:latin typeface="Aptos"/>
              </a:rPr>
              <a:t>Fragmented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30752"/>
            <a:ext cx="27889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7169"/>
                </a:solidFill>
                <a:latin typeface="Aptos"/>
              </a:rPr>
              <a:t>CVs, screening answers, notes and interviews live in disconnected systems.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9560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D3932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240280"/>
            <a:ext cx="3474720" cy="3246120"/>
          </a:xfrm>
          <a:prstGeom prst="roundRect">
            <a:avLst/>
          </a:prstGeom>
          <a:solidFill>
            <a:srgbClr val="F8F8EF"/>
          </a:solidFill>
          <a:ln w="12700">
            <a:solidFill>
              <a:srgbClr val="DA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249631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F7169"/>
                </a:solidFill>
                <a:latin typeface="Aptos"/>
              </a:rPr>
              <a:t>02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0" y="2395728"/>
            <a:ext cx="457200" cy="457200"/>
          </a:xfrm>
          <a:prstGeom prst="ellipse">
            <a:avLst/>
          </a:prstGeom>
          <a:solidFill>
            <a:srgbClr val="D5EB8B"/>
          </a:solidFill>
          <a:ln>
            <a:solidFill>
              <a:srgbClr val="D5E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3090672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D3932"/>
                </a:solidFill>
                <a:latin typeface="Aptos"/>
              </a:rPr>
              <a:t>Opaque screening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3730752"/>
            <a:ext cx="27889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7169"/>
                </a:solidFill>
                <a:latin typeface="Aptos"/>
              </a:rPr>
              <a:t>Keyword filters and black-box scores make decisions difficult to explain or audit.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49560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D3932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57031" y="2240280"/>
            <a:ext cx="3474720" cy="3246120"/>
          </a:xfrm>
          <a:prstGeom prst="roundRect">
            <a:avLst/>
          </a:prstGeom>
          <a:solidFill>
            <a:srgbClr val="F8F8EF"/>
          </a:solidFill>
          <a:ln w="12700">
            <a:solidFill>
              <a:srgbClr val="DA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13063" y="249631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F7169"/>
                </a:solidFill>
                <a:latin typeface="Aptos"/>
              </a:rPr>
              <a:t>03</a:t>
            </a:r>
          </a:p>
        </p:txBody>
      </p:sp>
      <p:sp>
        <p:nvSpPr>
          <p:cNvPr id="20" name="Oval 19"/>
          <p:cNvSpPr/>
          <p:nvPr/>
        </p:nvSpPr>
        <p:spPr>
          <a:xfrm>
            <a:off x="10954512" y="2395728"/>
            <a:ext cx="457200" cy="457200"/>
          </a:xfrm>
          <a:prstGeom prst="ellipse">
            <a:avLst/>
          </a:prstGeom>
          <a:solidFill>
            <a:srgbClr val="D5EB8B"/>
          </a:solidFill>
          <a:ln>
            <a:solidFill>
              <a:srgbClr val="D5E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13063" y="3090672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D3932"/>
                </a:solidFill>
                <a:latin typeface="Aptos"/>
              </a:rPr>
              <a:t>Candidate trust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13063" y="3730752"/>
            <a:ext cx="27889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7169"/>
                </a:solidFill>
                <a:latin typeface="Aptos"/>
              </a:rPr>
              <a:t>Applicants have limited visibility into data use, retention and the role of AI.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3063" y="49560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D3932"/>
                </a:solidFill>
                <a:latin typeface="Apto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5F7169"/>
                </a:solidFill>
                <a:latin typeface="Aptos"/>
              </a:rPr>
              <a:t>CONFIDENTIAL · INVESTOR DISCUSSION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6537960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>
                <a:solidFill>
                  <a:srgbClr val="5F7169"/>
                </a:solidFill>
                <a:latin typeface="Aptos"/>
              </a:rPr>
              <a:t>HIREWISE  ·  SEPTEMBER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5EB8B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5EB8B"/>
                </a:solidFill>
                <a:latin typeface="Aptos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One accountable hiring journey.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09344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BF1DF"/>
                </a:solidFill>
                <a:latin typeface="Aptos"/>
              </a:rPr>
              <a:t>Hirewise connects vacancy requirements, candidate evidence, screening rationale, interviews and human decisions.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331720"/>
            <a:ext cx="530352" cy="530352"/>
          </a:xfrm>
          <a:prstGeom prst="ellipse">
            <a:avLst/>
          </a:prstGeom>
          <a:solidFill>
            <a:srgbClr val="D5EB8B"/>
          </a:solidFill>
          <a:ln>
            <a:solidFill>
              <a:srgbClr val="D5E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41448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D3932"/>
                </a:solidFill>
                <a:latin typeface="Aptos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6152" y="2569464"/>
            <a:ext cx="1572768" cy="16459"/>
          </a:xfrm>
          <a:prstGeom prst="rect">
            <a:avLst/>
          </a:prstGeom>
          <a:solidFill>
            <a:srgbClr val="59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12724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Define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21024"/>
            <a:ext cx="190195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BF1DF"/>
                </a:solidFill>
                <a:latin typeface="Aptos"/>
              </a:rPr>
              <a:t>Structured, job-related criteria</a:t>
            </a:r>
          </a:p>
        </p:txBody>
      </p:sp>
      <p:sp>
        <p:nvSpPr>
          <p:cNvPr id="11" name="Oval 10"/>
          <p:cNvSpPr/>
          <p:nvPr/>
        </p:nvSpPr>
        <p:spPr>
          <a:xfrm>
            <a:off x="2880360" y="2331720"/>
            <a:ext cx="530352" cy="530352"/>
          </a:xfrm>
          <a:prstGeom prst="ellipse">
            <a:avLst/>
          </a:prstGeom>
          <a:solidFill>
            <a:srgbClr val="D5EB8B"/>
          </a:solidFill>
          <a:ln>
            <a:solidFill>
              <a:srgbClr val="D5E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441448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D3932"/>
                </a:solidFill>
                <a:latin typeface="Aptos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2152" y="2569464"/>
            <a:ext cx="1572768" cy="16459"/>
          </a:xfrm>
          <a:prstGeom prst="rect">
            <a:avLst/>
          </a:prstGeom>
          <a:solidFill>
            <a:srgbClr val="59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312724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Apply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621024"/>
            <a:ext cx="190195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BF1DF"/>
                </a:solidFill>
                <a:latin typeface="Aptos"/>
              </a:rPr>
              <a:t>Private guest or account application</a:t>
            </a:r>
          </a:p>
        </p:txBody>
      </p:sp>
      <p:sp>
        <p:nvSpPr>
          <p:cNvPr id="16" name="Oval 15"/>
          <p:cNvSpPr/>
          <p:nvPr/>
        </p:nvSpPr>
        <p:spPr>
          <a:xfrm>
            <a:off x="5166360" y="2331720"/>
            <a:ext cx="530352" cy="530352"/>
          </a:xfrm>
          <a:prstGeom prst="ellipse">
            <a:avLst/>
          </a:prstGeom>
          <a:solidFill>
            <a:srgbClr val="D5EB8B"/>
          </a:solidFill>
          <a:ln>
            <a:solidFill>
              <a:srgbClr val="D5E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2441448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D3932"/>
                </a:solidFill>
                <a:latin typeface="Apto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88152" y="2569464"/>
            <a:ext cx="1572768" cy="16459"/>
          </a:xfrm>
          <a:prstGeom prst="rect">
            <a:avLst/>
          </a:prstGeom>
          <a:solidFill>
            <a:srgbClr val="59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12724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Understand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3621024"/>
            <a:ext cx="190195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BF1DF"/>
                </a:solidFill>
                <a:latin typeface="Aptos"/>
              </a:rPr>
              <a:t>Evidence-linked matching &amp; gaps</a:t>
            </a:r>
          </a:p>
        </p:txBody>
      </p:sp>
      <p:sp>
        <p:nvSpPr>
          <p:cNvPr id="21" name="Oval 20"/>
          <p:cNvSpPr/>
          <p:nvPr/>
        </p:nvSpPr>
        <p:spPr>
          <a:xfrm>
            <a:off x="7452360" y="2331720"/>
            <a:ext cx="530352" cy="530352"/>
          </a:xfrm>
          <a:prstGeom prst="ellipse">
            <a:avLst/>
          </a:prstGeom>
          <a:solidFill>
            <a:srgbClr val="D5EB8B"/>
          </a:solidFill>
          <a:ln>
            <a:solidFill>
              <a:srgbClr val="D5E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2441448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D3932"/>
                </a:solidFill>
                <a:latin typeface="Aptos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74152" y="2569464"/>
            <a:ext cx="1572768" cy="16459"/>
          </a:xfrm>
          <a:prstGeom prst="rect">
            <a:avLst/>
          </a:prstGeom>
          <a:solidFill>
            <a:srgbClr val="59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312724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Interview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3621024"/>
            <a:ext cx="190195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BF1DF"/>
                </a:solidFill>
                <a:latin typeface="Aptos"/>
              </a:rPr>
              <a:t>Approved questions and rubric</a:t>
            </a:r>
          </a:p>
        </p:txBody>
      </p:sp>
      <p:sp>
        <p:nvSpPr>
          <p:cNvPr id="26" name="Oval 25"/>
          <p:cNvSpPr/>
          <p:nvPr/>
        </p:nvSpPr>
        <p:spPr>
          <a:xfrm>
            <a:off x="9738360" y="2331720"/>
            <a:ext cx="530352" cy="530352"/>
          </a:xfrm>
          <a:prstGeom prst="ellipse">
            <a:avLst/>
          </a:prstGeom>
          <a:solidFill>
            <a:srgbClr val="D5EB8B"/>
          </a:solidFill>
          <a:ln>
            <a:solidFill>
              <a:srgbClr val="D5E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38360" y="2441448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D3932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312724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3621024"/>
            <a:ext cx="190195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BF1DF"/>
                </a:solidFill>
                <a:latin typeface="Aptos"/>
              </a:rPr>
              <a:t>Human action with reason &amp; history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956048"/>
            <a:ext cx="10972800" cy="804672"/>
          </a:xfrm>
          <a:prstGeom prst="roundRect">
            <a:avLst/>
          </a:prstGeom>
          <a:solidFill>
            <a:srgbClr val="1A4E44"/>
          </a:solidFill>
          <a:ln w="12700">
            <a:solidFill>
              <a:srgbClr val="1A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02936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AI assists. Evidence explains. People decide.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523951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D5EB8B"/>
                </a:solidFill>
                <a:latin typeface="Aptos"/>
              </a:rPr>
              <a:t>NO AUTONOMOUS EMPLOYMENT DECISIONS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5F7169"/>
                </a:solidFill>
                <a:latin typeface="Aptos"/>
              </a:rPr>
              <a:t>CONFIDENTIAL · INVESTOR DISCUSSION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6537960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>
                <a:solidFill>
                  <a:srgbClr val="5F7169"/>
                </a:solidFill>
                <a:latin typeface="Aptos"/>
              </a:rPr>
              <a:t>HIREWISE  ·  SEPTEMBER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D3932"/>
                </a:solidFill>
                <a:latin typeface="Aptos"/>
              </a:rPr>
              <a:t>A modular recruitment operating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09344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F7169"/>
                </a:solidFill>
                <a:latin typeface="Aptos"/>
              </a:rPr>
              <a:t>Four experiences share one secure, traceable data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2148840"/>
            <a:ext cx="5230368" cy="1508760"/>
          </a:xfrm>
          <a:prstGeom prst="roundRect">
            <a:avLst/>
          </a:prstGeom>
          <a:solidFill>
            <a:srgbClr val="F8F8EF"/>
          </a:solidFill>
          <a:ln w="12700">
            <a:solidFill>
              <a:srgbClr val="DA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D3932"/>
                </a:solidFill>
                <a:latin typeface="Aptos"/>
              </a:rPr>
              <a:t>Candidate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62072"/>
            <a:ext cx="4617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F7169"/>
                </a:solidFill>
                <a:latin typeface="Aptos"/>
              </a:rPr>
              <a:t>Find roles · guest apply · upload CV · track · interview · privacy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02936" y="235000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D3932"/>
                </a:solidFill>
                <a:latin typeface="Aptos"/>
              </a:rPr>
              <a:t>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148840"/>
            <a:ext cx="5230368" cy="1508760"/>
          </a:xfrm>
          <a:prstGeom prst="roundRect">
            <a:avLst/>
          </a:prstGeom>
          <a:solidFill>
            <a:srgbClr val="F8F8EF"/>
          </a:solidFill>
          <a:ln w="12700">
            <a:solidFill>
              <a:srgbClr val="DA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23774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D3932"/>
                </a:solidFill>
                <a:latin typeface="Aptos"/>
              </a:rPr>
              <a:t>Recruiter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2862072"/>
            <a:ext cx="4617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F7169"/>
                </a:solidFill>
                <a:latin typeface="Aptos"/>
              </a:rPr>
              <a:t>Companies · vacancies · applicants · evidence · pipeline ·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99063" y="235000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D3932"/>
                </a:solidFill>
                <a:latin typeface="Aptos"/>
              </a:rPr>
              <a:t>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023360"/>
            <a:ext cx="5230368" cy="1508760"/>
          </a:xfrm>
          <a:prstGeom prst="roundRect">
            <a:avLst/>
          </a:prstGeom>
          <a:solidFill>
            <a:srgbClr val="F8F8EF"/>
          </a:solidFill>
          <a:ln w="12700">
            <a:solidFill>
              <a:srgbClr val="DA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2519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D3932"/>
                </a:solidFill>
                <a:latin typeface="Aptos"/>
              </a:rPr>
              <a:t>Administrator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36592"/>
            <a:ext cx="4617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F7169"/>
                </a:solidFill>
                <a:latin typeface="Aptos"/>
              </a:rPr>
              <a:t>Approvals · moderation · pricing · audit · privacy · configuration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2936" y="422452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D3932"/>
                </a:solidFill>
                <a:latin typeface="Aptos"/>
              </a:rPr>
              <a:t>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023360"/>
            <a:ext cx="5230368" cy="1508760"/>
          </a:xfrm>
          <a:prstGeom prst="roundRect">
            <a:avLst/>
          </a:prstGeom>
          <a:solidFill>
            <a:srgbClr val="EBF1DF"/>
          </a:solidFill>
          <a:ln w="12700">
            <a:solidFill>
              <a:srgbClr val="DA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42519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D3932"/>
                </a:solidFill>
                <a:latin typeface="Aptos"/>
              </a:rPr>
              <a:t>Intelligence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4736592"/>
            <a:ext cx="4617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F7169"/>
                </a:solidFill>
                <a:latin typeface="Aptos"/>
              </a:rPr>
              <a:t>Document extraction · versioned matching · evidence · interview 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99063" y="422452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D3932"/>
                </a:solidFill>
                <a:latin typeface="Aptos"/>
              </a:rPr>
              <a:t>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2531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D3932"/>
                </a:solidFill>
                <a:latin typeface="Aptos"/>
              </a:rPr>
              <a:t>Provider-independent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93445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7169"/>
                </a:solidFill>
                <a:latin typeface="Aptos"/>
              </a:rPr>
              <a:t>PostgreSQL · private object storage · background workers · replaceable AI/payment adapters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5F7169"/>
                </a:solidFill>
                <a:latin typeface="Aptos"/>
              </a:rPr>
              <a:t>CONFIDENTIAL · INVESTOR DISCUSSION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6537960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>
                <a:solidFill>
                  <a:srgbClr val="5F7169"/>
                </a:solidFill>
                <a:latin typeface="Aptos"/>
              </a:rPr>
              <a:t>HIREWISE  ·  SEPTEMBER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WHY HIREWISE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D3932"/>
                </a:solidFill>
                <a:latin typeface="Aptos"/>
              </a:rPr>
              <a:t>Trust is product infrastructure.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09344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F7169"/>
                </a:solidFill>
                <a:latin typeface="Aptos"/>
              </a:rPr>
              <a:t>Designed for the realities of recruitment data and AI-assisted evaluation.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2167128"/>
            <a:ext cx="347472" cy="347472"/>
          </a:xfrm>
          <a:prstGeom prst="ellipse">
            <a:avLst/>
          </a:prstGeom>
          <a:solidFill>
            <a:srgbClr val="D5EB8B"/>
          </a:solidFill>
          <a:ln>
            <a:solidFill>
              <a:srgbClr val="D5E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231136"/>
            <a:ext cx="34747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D3932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2148840"/>
            <a:ext cx="2971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D3932"/>
                </a:solidFill>
                <a:latin typeface="Aptos"/>
              </a:rPr>
              <a:t>Evidence, not a mystery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2679192"/>
            <a:ext cx="288036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F7169"/>
                </a:solidFill>
                <a:latin typeface="Aptos"/>
              </a:rPr>
              <a:t>Every criterion points to a source—or clearly says evidence is unknown.</a:t>
            </a:r>
          </a:p>
        </p:txBody>
      </p:sp>
      <p:sp>
        <p:nvSpPr>
          <p:cNvPr id="10" name="Oval 9"/>
          <p:cNvSpPr/>
          <p:nvPr/>
        </p:nvSpPr>
        <p:spPr>
          <a:xfrm>
            <a:off x="4498848" y="2167128"/>
            <a:ext cx="347472" cy="347472"/>
          </a:xfrm>
          <a:prstGeom prst="ellipse">
            <a:avLst/>
          </a:prstGeom>
          <a:solidFill>
            <a:srgbClr val="D5EB8B"/>
          </a:solidFill>
          <a:ln>
            <a:solidFill>
              <a:srgbClr val="D5E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2231136"/>
            <a:ext cx="34747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D3932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148840"/>
            <a:ext cx="2971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D3932"/>
                </a:solidFill>
                <a:latin typeface="Aptos"/>
              </a:rPr>
              <a:t>Privacy from the first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679192"/>
            <a:ext cx="288036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F7169"/>
                </a:solidFill>
                <a:latin typeface="Aptos"/>
              </a:rPr>
              <a:t>No secret scraping, no data brokers, no public CV directories.</a:t>
            </a:r>
          </a:p>
        </p:txBody>
      </p:sp>
      <p:sp>
        <p:nvSpPr>
          <p:cNvPr id="14" name="Oval 13"/>
          <p:cNvSpPr/>
          <p:nvPr/>
        </p:nvSpPr>
        <p:spPr>
          <a:xfrm>
            <a:off x="8339328" y="2167128"/>
            <a:ext cx="347472" cy="347472"/>
          </a:xfrm>
          <a:prstGeom prst="ellipse">
            <a:avLst/>
          </a:prstGeom>
          <a:solidFill>
            <a:srgbClr val="D5EB8B"/>
          </a:solidFill>
          <a:ln>
            <a:solidFill>
              <a:srgbClr val="D5E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2231136"/>
            <a:ext cx="34747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D3932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148840"/>
            <a:ext cx="2971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D3932"/>
                </a:solidFill>
                <a:latin typeface="Aptos"/>
              </a:rPr>
              <a:t>Human control by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679192"/>
            <a:ext cx="288036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F7169"/>
                </a:solidFill>
                <a:latin typeface="Aptos"/>
              </a:rPr>
              <a:t>AI recommendations never become irreversible employment decisions.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133087"/>
            <a:ext cx="347472" cy="347472"/>
          </a:xfrm>
          <a:prstGeom prst="ellipse">
            <a:avLst/>
          </a:prstGeom>
          <a:solidFill>
            <a:srgbClr val="D5EB8B"/>
          </a:solidFill>
          <a:ln>
            <a:solidFill>
              <a:srgbClr val="D5E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197096"/>
            <a:ext cx="34747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D3932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4114800"/>
            <a:ext cx="2971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D3932"/>
                </a:solidFill>
                <a:latin typeface="Aptos"/>
              </a:rPr>
              <a:t>Traceable over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19" y="4645152"/>
            <a:ext cx="288036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F7169"/>
                </a:solidFill>
                <a:latin typeface="Aptos"/>
              </a:rPr>
              <a:t>Policy, model, prompt, score, status and override history remain versioned.</a:t>
            </a:r>
          </a:p>
        </p:txBody>
      </p:sp>
      <p:sp>
        <p:nvSpPr>
          <p:cNvPr id="22" name="Oval 21"/>
          <p:cNvSpPr/>
          <p:nvPr/>
        </p:nvSpPr>
        <p:spPr>
          <a:xfrm>
            <a:off x="4498848" y="4133087"/>
            <a:ext cx="347472" cy="347472"/>
          </a:xfrm>
          <a:prstGeom prst="ellipse">
            <a:avLst/>
          </a:prstGeom>
          <a:solidFill>
            <a:srgbClr val="D5EB8B"/>
          </a:solidFill>
          <a:ln>
            <a:solidFill>
              <a:srgbClr val="D5E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4197096"/>
            <a:ext cx="34747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D3932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114800"/>
            <a:ext cx="2971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D3932"/>
                </a:solidFill>
                <a:latin typeface="Aptos"/>
              </a:rPr>
              <a:t>Qatar first, portable later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645152"/>
            <a:ext cx="288036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F7169"/>
                </a:solidFill>
                <a:latin typeface="Aptos"/>
              </a:rPr>
              <a:t>QAR, Asia/Qatar, local payment abstraction and multi-country architecture.</a:t>
            </a:r>
          </a:p>
        </p:txBody>
      </p:sp>
      <p:sp>
        <p:nvSpPr>
          <p:cNvPr id="26" name="Oval 25"/>
          <p:cNvSpPr/>
          <p:nvPr/>
        </p:nvSpPr>
        <p:spPr>
          <a:xfrm>
            <a:off x="8339328" y="4133087"/>
            <a:ext cx="347472" cy="347472"/>
          </a:xfrm>
          <a:prstGeom prst="ellipse">
            <a:avLst/>
          </a:prstGeom>
          <a:solidFill>
            <a:srgbClr val="D5EB8B"/>
          </a:solidFill>
          <a:ln>
            <a:solidFill>
              <a:srgbClr val="D5E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8" y="4197096"/>
            <a:ext cx="34747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D3932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114800"/>
            <a:ext cx="2971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D3932"/>
                </a:solidFill>
                <a:latin typeface="Aptos"/>
              </a:rPr>
              <a:t>Company isolation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4645152"/>
            <a:ext cx="288036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F7169"/>
                </a:solidFill>
                <a:latin typeface="Aptos"/>
              </a:rPr>
              <a:t>Recruiters access only the vacancies and applicants their active membership permits.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5F7169"/>
                </a:solidFill>
                <a:latin typeface="Aptos"/>
              </a:rPr>
              <a:t>CONFIDENTIAL · INVESTOR DISCUSSION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6537960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>
                <a:solidFill>
                  <a:srgbClr val="5F7169"/>
                </a:solidFill>
                <a:latin typeface="Aptos"/>
              </a:rPr>
              <a:t>HIREWISE  ·  SEPTEMBER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WHY QATAR,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D3932"/>
                </a:solidFill>
                <a:latin typeface="Aptos"/>
              </a:rPr>
              <a:t>A national tailwind for digital talent.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09344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F7169"/>
                </a:solidFill>
                <a:latin typeface="Aptos"/>
              </a:rPr>
              <a:t>Official strategy creates a timely entry point; Hirewise still needs customer discovery to quantify its serviceable market.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657600" cy="3063240"/>
          </a:xfrm>
          <a:prstGeom prst="roundRect">
            <a:avLst/>
          </a:prstGeom>
          <a:solidFill>
            <a:srgbClr val="0D3932"/>
          </a:solidFill>
          <a:ln w="12700">
            <a:solidFill>
              <a:srgbClr val="0D3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30175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D5EB8B"/>
                </a:solidFill>
                <a:latin typeface="Aptos"/>
              </a:rPr>
              <a:t>~QAR 40B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74720"/>
            <a:ext cx="2926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Digital Agenda 2030
approximate cumulative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690872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BF1DF"/>
                </a:solidFill>
                <a:latin typeface="Aptos"/>
              </a:rPr>
              <a:t>Official MCIT strategy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148840"/>
            <a:ext cx="2971800" cy="3063240"/>
          </a:xfrm>
          <a:prstGeom prst="roundRect">
            <a:avLst/>
          </a:prstGeom>
          <a:solidFill>
            <a:srgbClr val="EBF1DF"/>
          </a:solidFill>
          <a:ln w="12700">
            <a:solidFill>
              <a:srgbClr val="EBF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606040"/>
            <a:ext cx="22860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D3932"/>
                </a:solidFill>
                <a:latin typeface="Aptos"/>
              </a:rPr>
              <a:t>26,000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474720"/>
            <a:ext cx="21031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3932"/>
                </a:solidFill>
                <a:latin typeface="Aptos"/>
              </a:rPr>
              <a:t>ICT jobs targeted
by 2030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69087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F7169"/>
                </a:solidFill>
                <a:latin typeface="Aptos"/>
              </a:rPr>
              <a:t>Official MCIT strategy target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2148840"/>
            <a:ext cx="379476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5146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D3932"/>
                </a:solidFill>
                <a:latin typeface="Aptos"/>
              </a:rPr>
              <a:t>The opening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063240"/>
            <a:ext cx="306324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5F7169"/>
                </a:solidFill>
                <a:latin typeface="Aptos"/>
              </a:defRPr>
            </a:pPr>
            <a:r>
              <a:t>•  Growing digital-talent demand</a:t>
            </a:r>
          </a:p>
          <a:p>
            <a:pPr>
              <a:spcAft>
                <a:spcPts val="800"/>
              </a:spcAft>
              <a:defRPr sz="1300">
                <a:solidFill>
                  <a:srgbClr val="5F7169"/>
                </a:solidFill>
                <a:latin typeface="Aptos"/>
              </a:defRPr>
            </a:pPr>
            <a:r>
              <a:t>•  National focus on data &amp; emerging tech</a:t>
            </a:r>
          </a:p>
          <a:p>
            <a:pPr>
              <a:spcAft>
                <a:spcPts val="800"/>
              </a:spcAft>
              <a:defRPr sz="1300">
                <a:solidFill>
                  <a:srgbClr val="5F7169"/>
                </a:solidFill>
                <a:latin typeface="Aptos"/>
              </a:defRPr>
            </a:pPr>
            <a:r>
              <a:t>•  Need for trusted, efficient hiring 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79592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F7169"/>
                </a:solidFill>
                <a:latin typeface="Aptos"/>
              </a:rPr>
              <a:t>Source: Qatar MCIT Digital Agenda 2030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5F7169"/>
                </a:solidFill>
                <a:latin typeface="Aptos"/>
              </a:rPr>
              <a:t>CONFIDENTIAL · INVESTOR DISCUSSION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6537960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>
                <a:solidFill>
                  <a:srgbClr val="5F7169"/>
                </a:solidFill>
                <a:latin typeface="Aptos"/>
              </a:rPr>
              <a:t>HIREWISE  ·  SEPTEMBER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5EB8B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5EB8B"/>
                </a:solidFill>
                <a:latin typeface="Aptos"/>
              </a:rPr>
              <a:t>MARKET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Start narrow. Earn the right to expand.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09344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BF1DF"/>
                </a:solidFill>
                <a:latin typeface="Aptos"/>
              </a:rPr>
              <a:t>A bottom-up commercial wedge avoids pretending that a broad global HR-tech market equals Hirewise’s obtainable market.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3383280" cy="2468880"/>
          </a:xfrm>
          <a:prstGeom prst="roundRect">
            <a:avLst/>
          </a:prstGeom>
          <a:solidFill>
            <a:srgbClr val="1A4E44"/>
          </a:solidFill>
          <a:ln w="12700">
            <a:solidFill>
              <a:srgbClr val="3C6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420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5EB8B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Beachhead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39312"/>
            <a:ext cx="27889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BF1DF"/>
                </a:solidFill>
                <a:latin typeface="Aptos"/>
              </a:rPr>
              <a:t>Qatar startups &amp; SMEs hiring recurring professional and digital roles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331720"/>
            <a:ext cx="3383280" cy="2468880"/>
          </a:xfrm>
          <a:prstGeom prst="roundRect">
            <a:avLst/>
          </a:prstGeom>
          <a:solidFill>
            <a:srgbClr val="1A4E44"/>
          </a:solidFill>
          <a:ln w="12700">
            <a:solidFill>
              <a:srgbClr val="3C6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5420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5EB8B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017520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Expansion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639312"/>
            <a:ext cx="27889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BF1DF"/>
                </a:solidFill>
                <a:latin typeface="Aptos"/>
              </a:rPr>
              <a:t>Recruitment agencies and multi-seat mid-market employers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331720"/>
            <a:ext cx="3383280" cy="2468880"/>
          </a:xfrm>
          <a:prstGeom prst="roundRect">
            <a:avLst/>
          </a:prstGeom>
          <a:solidFill>
            <a:srgbClr val="1A4E44"/>
          </a:solidFill>
          <a:ln w="12700">
            <a:solidFill>
              <a:srgbClr val="3C6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5420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5EB8B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017520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Regional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639312"/>
            <a:ext cx="27889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BF1DF"/>
                </a:solidFill>
                <a:latin typeface="Aptos"/>
              </a:rPr>
              <a:t>GCC localization, enterprise controls, ATS/HRIS integrations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358384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D5EB8B"/>
                </a:solidFill>
                <a:latin typeface="Aptos"/>
              </a:rPr>
              <a:t>VALIDATION NEEDED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2848" y="5321808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Customer interviews → hiring volume → willingness to pay → sales-cycle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5F7169"/>
                </a:solidFill>
                <a:latin typeface="Aptos"/>
              </a:rPr>
              <a:t>CONFIDENTIAL · INVESTOR DISCUSSION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6537960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>
                <a:solidFill>
                  <a:srgbClr val="5F7169"/>
                </a:solidFill>
                <a:latin typeface="Aptos"/>
              </a:rPr>
              <a:t>HIREWISE  ·  SEPTEMBER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D3932"/>
                </a:solidFill>
                <a:latin typeface="Aptos"/>
              </a:rPr>
              <a:t>Land with a vacancy. Grow with the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09344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F7169"/>
                </a:solidFill>
                <a:latin typeface="Aptos"/>
              </a:rPr>
              <a:t>Initial monetization is configurable; prices below are proposed hypotheses for customer testing—not approved live pricing.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3456432" cy="3310128"/>
          </a:xfrm>
          <a:prstGeom prst="roundRect">
            <a:avLst/>
          </a:prstGeom>
          <a:solidFill>
            <a:srgbClr val="F8F8EF"/>
          </a:solidFill>
          <a:ln w="12700">
            <a:solidFill>
              <a:srgbClr val="DA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4505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07792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0D3932"/>
                </a:solidFill>
                <a:latin typeface="Aptos"/>
              </a:rPr>
              <a:t>QAR 499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4564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F7169"/>
                </a:solidFill>
                <a:latin typeface="Aptos"/>
              </a:rPr>
              <a:t>per vacancy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977639"/>
            <a:ext cx="26517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7169"/>
                </a:solidFill>
                <a:latin typeface="Aptos"/>
              </a:rPr>
              <a:t>Published vacancy
Applicant tracking
Team workspace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148840"/>
            <a:ext cx="3456432" cy="3310128"/>
          </a:xfrm>
          <a:prstGeom prst="roundRect">
            <a:avLst/>
          </a:prstGeom>
          <a:solidFill>
            <a:srgbClr val="0D3932"/>
          </a:solidFill>
          <a:ln w="12700">
            <a:solidFill>
              <a:srgbClr val="0D3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24505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5EB8B"/>
                </a:solidFill>
                <a:latin typeface="Aptos"/>
              </a:rPr>
              <a:t>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907792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QAR 999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4564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BF1DF"/>
                </a:solidFill>
                <a:latin typeface="Aptos"/>
              </a:rPr>
              <a:t>per vacancy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977639"/>
            <a:ext cx="26517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BF1DF"/>
                </a:solidFill>
                <a:latin typeface="Aptos"/>
              </a:rPr>
              <a:t>Everything in Post
Evidence-led matching
Candidate report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2148840"/>
            <a:ext cx="3456432" cy="3310128"/>
          </a:xfrm>
          <a:prstGeom prst="roundRect">
            <a:avLst/>
          </a:prstGeom>
          <a:solidFill>
            <a:srgbClr val="F8F8EF"/>
          </a:solidFill>
          <a:ln w="12700">
            <a:solidFill>
              <a:srgbClr val="DA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7072" y="24505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INTERVIEW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2907792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0D3932"/>
                </a:solidFill>
                <a:latin typeface="Aptos"/>
              </a:rPr>
              <a:t>QAR 1,499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34564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F7169"/>
                </a:solidFill>
                <a:latin typeface="Aptos"/>
              </a:rPr>
              <a:t>per vacancy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3977639"/>
            <a:ext cx="26517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7169"/>
                </a:solidFill>
                <a:latin typeface="Aptos"/>
              </a:rPr>
              <a:t>Everything in Match
Text interview workflow
Assessment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843016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7169"/>
                </a:solidFill>
                <a:latin typeface="Aptos"/>
              </a:rPr>
              <a:t>Future revenue: recruiter seats · subscriptions · credits · enterprise plans · integrations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5F7169"/>
                </a:solidFill>
                <a:latin typeface="Aptos"/>
              </a:rPr>
              <a:t>CONFIDENTIAL · INVESTOR DISCUSSION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6537960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>
                <a:solidFill>
                  <a:srgbClr val="5F7169"/>
                </a:solidFill>
                <a:latin typeface="Aptos"/>
              </a:rPr>
              <a:t>HIREWISE  ·  SEPTEMBER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D3932"/>
                </a:solidFill>
                <a:latin typeface="Aptos"/>
              </a:rPr>
              <a:t>Founder-led, proof-led, locally anchored.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09344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F7169"/>
                </a:solidFill>
                <a:latin typeface="Aptos"/>
              </a:rPr>
              <a:t>Win trust through design partners and measurable improvements before scaling paid acquisition.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21284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0–3 MONTHS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670048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0D3932"/>
                </a:solidFill>
                <a:latin typeface="Aptos"/>
              </a:rPr>
              <a:t>Discover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3246120"/>
            <a:ext cx="2423160" cy="32004"/>
          </a:xfrm>
          <a:prstGeom prst="rect">
            <a:avLst/>
          </a:prstGeom>
          <a:solidFill>
            <a:srgbClr val="D5E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566160"/>
            <a:ext cx="2240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7169"/>
                </a:solidFill>
                <a:latin typeface="Aptos"/>
              </a:rPr>
              <a:t>25 employer interviews
5 design partners
Baseline hiring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21284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3–6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670048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0D3932"/>
                </a:solidFill>
                <a:latin typeface="Aptos"/>
              </a:rPr>
              <a:t>Prove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3246120"/>
            <a:ext cx="2423160" cy="32004"/>
          </a:xfrm>
          <a:prstGeom prst="rect">
            <a:avLst/>
          </a:prstGeom>
          <a:solidFill>
            <a:srgbClr val="D5E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3566160"/>
            <a:ext cx="2240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7169"/>
                </a:solidFill>
                <a:latin typeface="Aptos"/>
              </a:rPr>
              <a:t>Pilot real vacancies
Measure review time &amp; completion
Publish customer case studies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21284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6–12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670048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0D3932"/>
                </a:solidFill>
                <a:latin typeface="Aptos"/>
              </a:rPr>
              <a:t>Convert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7648" y="3246120"/>
            <a:ext cx="2423160" cy="32004"/>
          </a:xfrm>
          <a:prstGeom prst="rect">
            <a:avLst/>
          </a:prstGeom>
          <a:solidFill>
            <a:srgbClr val="D5E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3566160"/>
            <a:ext cx="2240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7169"/>
                </a:solidFill>
                <a:latin typeface="Aptos"/>
              </a:rPr>
              <a:t>Paid vacancy packages
Founder-led outbound
Ecosystem partnerships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576" y="221284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12–18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2670048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0D3932"/>
                </a:solidFill>
                <a:latin typeface="Aptos"/>
              </a:rPr>
              <a:t>Scale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0576" y="3246120"/>
            <a:ext cx="2423160" cy="32004"/>
          </a:xfrm>
          <a:prstGeom prst="rect">
            <a:avLst/>
          </a:prstGeom>
          <a:solidFill>
            <a:srgbClr val="D5E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0576" y="3566160"/>
            <a:ext cx="2240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7169"/>
                </a:solidFill>
                <a:latin typeface="Aptos"/>
              </a:rPr>
              <a:t>Recruiter seats
Mid-market pipeline
GCC market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852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D3932"/>
                </a:solidFill>
                <a:latin typeface="Aptos"/>
              </a:rPr>
              <a:t>North-star pilot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529437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F7169"/>
                </a:solidFill>
                <a:latin typeface="Aptos"/>
              </a:rPr>
              <a:t>Time-to-first-review  ·  shortlist quality  ·  candidate completion  ·  recruiter retention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5F7169"/>
                </a:solidFill>
                <a:latin typeface="Aptos"/>
              </a:rPr>
              <a:t>CONFIDENTIAL · INVESTOR DISCUSSION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6537960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>
                <a:solidFill>
                  <a:srgbClr val="5F7169"/>
                </a:solidFill>
                <a:latin typeface="Aptos"/>
              </a:rPr>
              <a:t>HIREWISE  ·  SEPTEMBER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DEFENSIBILITY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D3932"/>
                </a:solidFill>
                <a:latin typeface="Aptos"/>
              </a:rPr>
              <a:t>The moat compounds through accountable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09344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F7169"/>
                </a:solidFill>
                <a:latin typeface="Aptos"/>
              </a:rPr>
              <a:t>Technology is necessary; trusted workflows, decision history and employer adoption create durable advantage.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2240280"/>
            <a:ext cx="2651760" cy="1188720"/>
          </a:xfrm>
          <a:prstGeom prst="roundRect">
            <a:avLst/>
          </a:prstGeom>
          <a:solidFill>
            <a:srgbClr val="0D3932"/>
          </a:solidFill>
          <a:ln w="12700">
            <a:solidFill>
              <a:srgbClr val="0D3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2496312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Hirewise
trust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2971800" cy="1234440"/>
          </a:xfrm>
          <a:prstGeom prst="roundRect">
            <a:avLst/>
          </a:prstGeom>
          <a:solidFill>
            <a:srgbClr val="F8F8EF"/>
          </a:solidFill>
          <a:ln w="12700">
            <a:solidFill>
              <a:srgbClr val="DA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3932"/>
                </a:solidFill>
                <a:latin typeface="Aptos"/>
              </a:rPr>
              <a:t>Localized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70048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F7169"/>
                </a:solidFill>
                <a:latin typeface="Aptos"/>
              </a:rPr>
              <a:t>Qatar-first operations, payments and policies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2057400"/>
            <a:ext cx="2971800" cy="1234440"/>
          </a:xfrm>
          <a:prstGeom prst="roundRect">
            <a:avLst/>
          </a:prstGeom>
          <a:solidFill>
            <a:srgbClr val="F8F8EF"/>
          </a:solidFill>
          <a:ln w="12700">
            <a:solidFill>
              <a:srgbClr val="DA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224028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3932"/>
                </a:solidFill>
                <a:latin typeface="Aptos"/>
              </a:rPr>
              <a:t>Evidence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670048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F7169"/>
                </a:solidFill>
                <a:latin typeface="Aptos"/>
              </a:rPr>
              <a:t>Criteria → sources → scores → human 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57400" y="4251960"/>
            <a:ext cx="2971800" cy="1234440"/>
          </a:xfrm>
          <a:prstGeom prst="roundRect">
            <a:avLst/>
          </a:prstGeom>
          <a:solidFill>
            <a:srgbClr val="F8F8EF"/>
          </a:solidFill>
          <a:ln w="12700">
            <a:solidFill>
              <a:srgbClr val="DA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80" y="443484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3932"/>
                </a:solidFill>
                <a:latin typeface="Aptos"/>
              </a:rPr>
              <a:t>Versioned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4864608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F7169"/>
                </a:solidFill>
                <a:latin typeface="Aptos"/>
              </a:rPr>
              <a:t>Reproducible policies and accountable overrides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4251960"/>
            <a:ext cx="2971800" cy="1234440"/>
          </a:xfrm>
          <a:prstGeom prst="roundRect">
            <a:avLst/>
          </a:prstGeom>
          <a:solidFill>
            <a:srgbClr val="F8F8EF"/>
          </a:solidFill>
          <a:ln w="12700">
            <a:solidFill>
              <a:srgbClr val="DA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443484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3932"/>
                </a:solidFill>
                <a:latin typeface="Aptos"/>
              </a:rPr>
              <a:t>Customer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4864608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F7169"/>
                </a:solidFill>
                <a:latin typeface="Aptos"/>
              </a:rPr>
              <a:t>Role templates, rubrics and workflow benchmarks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13632" y="5806440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D3932"/>
                </a:solidFill>
                <a:latin typeface="Aptos"/>
              </a:rPr>
              <a:t>PRIVACY + FAIRNESS +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5F7169"/>
                </a:solidFill>
                <a:latin typeface="Aptos"/>
              </a:rPr>
              <a:t>CONFIDENTIAL · INVESTOR DISCUSSION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6537960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>
                <a:solidFill>
                  <a:srgbClr val="5F7169"/>
                </a:solidFill>
                <a:latin typeface="Aptos"/>
              </a:rPr>
              <a:t>HIREWISE  ·  SEPTEMBER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5EB8B"/>
                </a:solidFill>
                <a:latin typeface="Apto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5EB8B"/>
                </a:solidFill>
                <a:latin typeface="Aptos"/>
              </a:rPr>
              <a:t>EXECUTION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Working foundation. Pre-production company.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09344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BF1DF"/>
                </a:solidFill>
                <a:latin typeface="Aptos"/>
              </a:rPr>
              <a:t>The codebase demonstrates the workflow; commercial validation and production infrastructure are the next inflection points.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12848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D5EB8B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6207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automated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2152" y="2212848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D5EB8B"/>
                </a:solidFill>
                <a:latin typeface="Aptos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2152" y="286207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user experiences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8504" y="2212848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D5EB8B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8504" y="286207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tenant-aware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34856" y="2212848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D5EB8B"/>
                </a:solidFill>
                <a:latin typeface="Aptos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4856" y="286207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live customer claims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12463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D5EB8B"/>
                </a:solidFill>
                <a:latin typeface="Aptos"/>
              </a:rPr>
              <a:t>BUILT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685031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BF1DF"/>
                </a:solidFill>
                <a:latin typeface="Aptos"/>
              </a:rPr>
              <a:t>Accounts · jobs · applications · CV quarantine · audit · text interview · payment sandbox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25112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D5EB8B"/>
                </a:solidFill>
                <a:latin typeface="Aptos"/>
              </a:rPr>
              <a:t>VALIDATED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297679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BF1DF"/>
                </a:solidFill>
                <a:latin typeface="Aptos"/>
              </a:rPr>
              <a:t>Authorization tests · mobile/desktop browser flow · PostgreSQL CI · container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937759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D5EB8B"/>
                </a:solidFill>
                <a:latin typeface="Aptos"/>
              </a:rPr>
              <a:t>OPEN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910327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BF1DF"/>
                </a:solidFill>
                <a:latin typeface="Aptos"/>
              </a:rPr>
              <a:t>Customer discovery · semantic AI · live payments · production hosting · legal/security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5F7169"/>
                </a:solidFill>
                <a:latin typeface="Aptos"/>
              </a:rPr>
              <a:t>CONFIDENTIAL · INVESTOR DISCUSSION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6537960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>
                <a:solidFill>
                  <a:srgbClr val="5F7169"/>
                </a:solidFill>
                <a:latin typeface="Aptos"/>
              </a:rPr>
              <a:t>HIREWISE  ·  SEPTEMBER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18-MONTH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D3932"/>
                </a:solidFill>
                <a:latin typeface="Aptos"/>
              </a:rPr>
              <a:t>Technical foundation → repeatable 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09344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F7169"/>
                </a:solidFill>
                <a:latin typeface="Aptos"/>
              </a:rPr>
              <a:t>Milestones are management targets and depend on funding, hiring, legal review and customer access.</a:t>
            </a:r>
          </a:p>
        </p:txBody>
      </p:sp>
      <p:sp>
        <p:nvSpPr>
          <p:cNvPr id="6" name="Oval 5"/>
          <p:cNvSpPr/>
          <p:nvPr/>
        </p:nvSpPr>
        <p:spPr>
          <a:xfrm>
            <a:off x="667512" y="2267712"/>
            <a:ext cx="411480" cy="411480"/>
          </a:xfrm>
          <a:prstGeom prst="ellipse">
            <a:avLst/>
          </a:prstGeom>
          <a:solidFill>
            <a:srgbClr val="0D3932"/>
          </a:solidFill>
          <a:ln>
            <a:solidFill>
              <a:srgbClr val="0D3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" y="2459736"/>
            <a:ext cx="2395728" cy="22860"/>
          </a:xfrm>
          <a:prstGeom prst="rect">
            <a:avLst/>
          </a:prstGeom>
          <a:solidFill>
            <a:srgbClr val="DA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944368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401568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D3932"/>
                </a:solidFill>
                <a:latin typeface="Aptos"/>
              </a:rPr>
              <a:t>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950208"/>
            <a:ext cx="23317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7169"/>
                </a:solidFill>
                <a:latin typeface="Aptos"/>
              </a:rPr>
              <a:t>Product workflow
Security baseline
Investor/customer discovery</a:t>
            </a:r>
          </a:p>
        </p:txBody>
      </p:sp>
      <p:sp>
        <p:nvSpPr>
          <p:cNvPr id="11" name="Oval 10"/>
          <p:cNvSpPr/>
          <p:nvPr/>
        </p:nvSpPr>
        <p:spPr>
          <a:xfrm>
            <a:off x="3483864" y="2267712"/>
            <a:ext cx="411480" cy="411480"/>
          </a:xfrm>
          <a:prstGeom prst="ellipse">
            <a:avLst/>
          </a:prstGeom>
          <a:solidFill>
            <a:srgbClr val="D5EB8B"/>
          </a:solidFill>
          <a:ln>
            <a:solidFill>
              <a:srgbClr val="D5E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95344" y="2459736"/>
            <a:ext cx="2395728" cy="22860"/>
          </a:xfrm>
          <a:prstGeom prst="rect">
            <a:avLst/>
          </a:prstGeom>
          <a:solidFill>
            <a:srgbClr val="DA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3864" y="2944368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0–6M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3401568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D3932"/>
                </a:solidFill>
                <a:latin typeface="Aptos"/>
              </a:rPr>
              <a:t>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3950208"/>
            <a:ext cx="23317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7169"/>
                </a:solidFill>
                <a:latin typeface="Aptos"/>
              </a:rPr>
              <a:t>Production hosting
5 design partners
Reviewed matching v1</a:t>
            </a:r>
          </a:p>
        </p:txBody>
      </p:sp>
      <p:sp>
        <p:nvSpPr>
          <p:cNvPr id="16" name="Oval 15"/>
          <p:cNvSpPr/>
          <p:nvPr/>
        </p:nvSpPr>
        <p:spPr>
          <a:xfrm>
            <a:off x="6300216" y="2267712"/>
            <a:ext cx="411480" cy="411480"/>
          </a:xfrm>
          <a:prstGeom prst="ellipse">
            <a:avLst/>
          </a:prstGeom>
          <a:solidFill>
            <a:srgbClr val="D5EB8B"/>
          </a:solidFill>
          <a:ln>
            <a:solidFill>
              <a:srgbClr val="D5E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11696" y="2459736"/>
            <a:ext cx="2395728" cy="22860"/>
          </a:xfrm>
          <a:prstGeom prst="rect">
            <a:avLst/>
          </a:prstGeom>
          <a:solidFill>
            <a:srgbClr val="DA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944368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6–12M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3401568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D3932"/>
                </a:solidFill>
                <a:latin typeface="Aptos"/>
              </a:rPr>
              <a:t>Commercialize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3950208"/>
            <a:ext cx="23317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7169"/>
                </a:solidFill>
                <a:latin typeface="Aptos"/>
              </a:rPr>
              <a:t>Qatar payments
Paid vacancies
Case-study evidence</a:t>
            </a:r>
          </a:p>
        </p:txBody>
      </p:sp>
      <p:sp>
        <p:nvSpPr>
          <p:cNvPr id="21" name="Oval 20"/>
          <p:cNvSpPr/>
          <p:nvPr/>
        </p:nvSpPr>
        <p:spPr>
          <a:xfrm>
            <a:off x="9116568" y="2267712"/>
            <a:ext cx="411480" cy="411480"/>
          </a:xfrm>
          <a:prstGeom prst="ellipse">
            <a:avLst/>
          </a:prstGeom>
          <a:solidFill>
            <a:srgbClr val="D5EB8B"/>
          </a:solidFill>
          <a:ln>
            <a:solidFill>
              <a:srgbClr val="D5E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8" y="2944368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12–18M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8" y="3401568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D3932"/>
                </a:solidFill>
                <a:latin typeface="Aptos"/>
              </a:rPr>
              <a:t>Repeat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8" y="3950208"/>
            <a:ext cx="23317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7169"/>
                </a:solidFill>
                <a:latin typeface="Aptos"/>
              </a:rPr>
              <a:t>Recruiter seats
Mid-market pipeline
GCC validation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5413248"/>
            <a:ext cx="10972800" cy="502920"/>
          </a:xfrm>
          <a:prstGeom prst="roundRect">
            <a:avLst/>
          </a:prstGeom>
          <a:solidFill>
            <a:srgbClr val="EBF1DF"/>
          </a:solidFill>
          <a:ln w="12700">
            <a:solidFill>
              <a:srgbClr val="EBF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559552"/>
            <a:ext cx="10424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D3932"/>
                </a:solidFill>
                <a:latin typeface="Aptos"/>
              </a:rPr>
              <a:t>Every phase gated by human oversight, privacy review and measurable customer value.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5F7169"/>
                </a:solidFill>
                <a:latin typeface="Aptos"/>
              </a:rPr>
              <a:t>CONFIDENTIAL · INVESTOR DISCUSSION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6537960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>
                <a:solidFill>
                  <a:srgbClr val="5F7169"/>
                </a:solidFill>
                <a:latin typeface="Aptos"/>
              </a:rPr>
              <a:t>HIREWISE  ·  SEPTEMBER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ILLUSTRATIVE PRE-SEED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D3932"/>
                </a:solidFill>
                <a:latin typeface="Aptos"/>
              </a:rPr>
              <a:t>QAR 1.5M to reach a commercial proof 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09344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F7169"/>
                </a:solidFill>
                <a:latin typeface="Aptos"/>
              </a:rPr>
              <a:t>A management scenario for discussion—not a financing commitment, valuation or approved budget.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286000"/>
            <a:ext cx="4876038" cy="621792"/>
          </a:xfrm>
          <a:prstGeom prst="rect">
            <a:avLst/>
          </a:prstGeom>
          <a:solidFill>
            <a:srgbClr val="0D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61838" y="2286000"/>
            <a:ext cx="2167128" cy="621792"/>
          </a:xfrm>
          <a:prstGeom prst="rect">
            <a:avLst/>
          </a:prstGeom>
          <a:solidFill>
            <a:srgbClr val="137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28966" y="2286000"/>
            <a:ext cx="2167128" cy="621792"/>
          </a:xfrm>
          <a:prstGeom prst="rect">
            <a:avLst/>
          </a:prstGeom>
          <a:solidFill>
            <a:srgbClr val="708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896094" y="2286000"/>
            <a:ext cx="1083564" cy="621792"/>
          </a:xfrm>
          <a:prstGeom prst="rect">
            <a:avLst/>
          </a:prstGeom>
          <a:solidFill>
            <a:srgbClr val="635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9658" y="2286000"/>
            <a:ext cx="541782" cy="621792"/>
          </a:xfrm>
          <a:prstGeom prst="rect">
            <a:avLst/>
          </a:prstGeom>
          <a:solidFill>
            <a:srgbClr val="5F7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4088" y="3310128"/>
            <a:ext cx="201168" cy="201168"/>
          </a:xfrm>
          <a:prstGeom prst="ellipse">
            <a:avLst/>
          </a:prstGeom>
          <a:solidFill>
            <a:srgbClr val="0D3932"/>
          </a:solidFill>
          <a:ln>
            <a:solidFill>
              <a:srgbClr val="0D3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2918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D3932"/>
                </a:solidFill>
                <a:latin typeface="Aptos"/>
              </a:rPr>
              <a:t>45%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32918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7169"/>
                </a:solidFill>
                <a:latin typeface="Aptos"/>
              </a:rPr>
              <a:t>Product &amp; engineering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749039"/>
            <a:ext cx="201168" cy="201168"/>
          </a:xfrm>
          <a:prstGeom prst="ellipse">
            <a:avLst/>
          </a:prstGeom>
          <a:solidFill>
            <a:srgbClr val="1376B7"/>
          </a:solidFill>
          <a:ln>
            <a:solidFill>
              <a:srgbClr val="137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73075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D3932"/>
                </a:solidFill>
                <a:latin typeface="Aptos"/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8488" y="373075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7169"/>
                </a:solidFill>
                <a:latin typeface="Aptos"/>
              </a:rPr>
              <a:t>Security, legal &amp; compliance</a:t>
            </a:r>
          </a:p>
        </p:txBody>
      </p:sp>
      <p:sp>
        <p:nvSpPr>
          <p:cNvPr id="17" name="Oval 16"/>
          <p:cNvSpPr/>
          <p:nvPr/>
        </p:nvSpPr>
        <p:spPr>
          <a:xfrm>
            <a:off x="704088" y="4187952"/>
            <a:ext cx="201168" cy="201168"/>
          </a:xfrm>
          <a:prstGeom prst="ellipse">
            <a:avLst/>
          </a:prstGeom>
          <a:solidFill>
            <a:srgbClr val="708F47"/>
          </a:solidFill>
          <a:ln>
            <a:solidFill>
              <a:srgbClr val="708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16966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D3932"/>
                </a:solidFill>
                <a:latin typeface="Aptos"/>
              </a:rP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8488" y="416966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7169"/>
                </a:solidFill>
                <a:latin typeface="Aptos"/>
              </a:rPr>
              <a:t>Pilot delivery &amp; sales</a:t>
            </a:r>
          </a:p>
        </p:txBody>
      </p:sp>
      <p:sp>
        <p:nvSpPr>
          <p:cNvPr id="20" name="Oval 19"/>
          <p:cNvSpPr/>
          <p:nvPr/>
        </p:nvSpPr>
        <p:spPr>
          <a:xfrm>
            <a:off x="704088" y="4626864"/>
            <a:ext cx="201168" cy="201168"/>
          </a:xfrm>
          <a:prstGeom prst="ellipse">
            <a:avLst/>
          </a:prstGeom>
          <a:solidFill>
            <a:srgbClr val="635294"/>
          </a:solidFill>
          <a:ln>
            <a:solidFill>
              <a:srgbClr val="635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60857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D3932"/>
                </a:solidFill>
                <a:latin typeface="Aptos"/>
              </a:rPr>
              <a:t>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460857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7169"/>
                </a:solidFill>
                <a:latin typeface="Aptos"/>
              </a:rPr>
              <a:t>Infrastructure &amp; AI</a:t>
            </a:r>
          </a:p>
        </p:txBody>
      </p:sp>
      <p:sp>
        <p:nvSpPr>
          <p:cNvPr id="23" name="Oval 22"/>
          <p:cNvSpPr/>
          <p:nvPr/>
        </p:nvSpPr>
        <p:spPr>
          <a:xfrm>
            <a:off x="704088" y="5065776"/>
            <a:ext cx="201168" cy="201168"/>
          </a:xfrm>
          <a:prstGeom prst="ellipse">
            <a:avLst/>
          </a:prstGeom>
          <a:solidFill>
            <a:srgbClr val="5F7169"/>
          </a:solidFill>
          <a:ln>
            <a:solidFill>
              <a:srgbClr val="5F7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047488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D3932"/>
                </a:solidFill>
                <a:latin typeface="Aptos"/>
              </a:rPr>
              <a:t>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18488" y="504748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7169"/>
                </a:solidFill>
                <a:latin typeface="Aptos"/>
              </a:rPr>
              <a:t>Contingency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3364992"/>
            <a:ext cx="48463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36393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D3932"/>
                </a:solidFill>
                <a:latin typeface="Aptos"/>
              </a:rPr>
              <a:t>Target proof 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4160520"/>
            <a:ext cx="3977639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7169"/>
                </a:solidFill>
                <a:latin typeface="Aptos"/>
              </a:rPr>
              <a:t>Production-ready Qatar launch
5–10 design partners
First paid customers + measured retention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870448"/>
            <a:ext cx="10698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F7169"/>
                </a:solidFill>
                <a:latin typeface="Aptos"/>
              </a:rPr>
              <a:t>Assumed runway: ~18 months. Founder compensation, hiring plan and valuation remain to be agreed.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5F7169"/>
                </a:solidFill>
                <a:latin typeface="Aptos"/>
              </a:rPr>
              <a:t>CONFIDENTIAL · INVESTOR DISCUSSION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6537960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>
                <a:solidFill>
                  <a:srgbClr val="5F7169"/>
                </a:solidFill>
                <a:latin typeface="Aptos"/>
              </a:rPr>
              <a:t>HIREWISE  ·  SEPTEMBER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D3932"/>
                </a:solidFill>
                <a:latin typeface="Aptos"/>
              </a:rPr>
              <a:t>The founding story belongs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09344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F7169"/>
                </a:solidFill>
                <a:latin typeface="Aptos"/>
              </a:rPr>
              <a:t>Investor circulation should include verified founder names, roles, relevant experience, ownership and full-time commitment.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148840"/>
            <a:ext cx="6903720" cy="3154680"/>
          </a:xfrm>
          <a:prstGeom prst="roundRect">
            <a:avLst/>
          </a:prstGeom>
          <a:solidFill>
            <a:srgbClr val="F8F8EF"/>
          </a:solidFill>
          <a:ln w="12700">
            <a:solidFill>
              <a:srgbClr val="DA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54203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D3932"/>
                </a:solidFill>
                <a:latin typeface="Aptos"/>
              </a:rPr>
              <a:t>Founder /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0632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F7169"/>
                </a:solidFill>
                <a:latin typeface="Aptos"/>
              </a:rPr>
              <a:t>[Add verified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703320"/>
            <a:ext cx="50292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5F7169"/>
                </a:solidFill>
                <a:latin typeface="Aptos"/>
              </a:defRPr>
            </a:pPr>
            <a:r>
              <a:t>•  Relevant industry insight</a:t>
            </a:r>
          </a:p>
          <a:p>
            <a:pPr>
              <a:spcAft>
                <a:spcPts val="700"/>
              </a:spcAft>
              <a:defRPr sz="1200">
                <a:solidFill>
                  <a:srgbClr val="5F7169"/>
                </a:solidFill>
                <a:latin typeface="Aptos"/>
              </a:defRPr>
            </a:pPr>
            <a:r>
              <a:t>•  Commercial/customer access</a:t>
            </a:r>
          </a:p>
          <a:p>
            <a:pPr>
              <a:spcAft>
                <a:spcPts val="700"/>
              </a:spcAft>
              <a:defRPr sz="1200">
                <a:solidFill>
                  <a:srgbClr val="5F7169"/>
                </a:solidFill>
                <a:latin typeface="Aptos"/>
              </a:defRPr>
            </a:pPr>
            <a:r>
              <a:t>•  Why this founder is uniquely positioned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36408" y="2148840"/>
            <a:ext cx="3703320" cy="3154680"/>
          </a:xfrm>
          <a:prstGeom prst="roundRect">
            <a:avLst/>
          </a:prstGeom>
          <a:solidFill>
            <a:srgbClr val="0D3932"/>
          </a:solidFill>
          <a:ln w="12700">
            <a:solidFill>
              <a:srgbClr val="0D3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8" y="254203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Near-term key hires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3218688"/>
            <a:ext cx="288036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BF1DF"/>
                </a:solidFill>
                <a:latin typeface="Aptos"/>
              </a:defRPr>
            </a:pPr>
            <a:r>
              <a:t>•  Senior product engineer</a:t>
            </a:r>
          </a:p>
          <a:p>
            <a:pPr>
              <a:spcAft>
                <a:spcPts val="800"/>
              </a:spcAft>
              <a:defRPr sz="1200">
                <a:solidFill>
                  <a:srgbClr val="EBF1DF"/>
                </a:solidFill>
                <a:latin typeface="Aptos"/>
              </a:defRPr>
            </a:pPr>
            <a:r>
              <a:t>•  Recruitment domain lead</a:t>
            </a:r>
          </a:p>
          <a:p>
            <a:pPr>
              <a:spcAft>
                <a:spcPts val="800"/>
              </a:spcAft>
              <a:defRPr sz="1200">
                <a:solidFill>
                  <a:srgbClr val="EBF1DF"/>
                </a:solidFill>
                <a:latin typeface="Aptos"/>
              </a:defRPr>
            </a:pPr>
            <a:r>
              <a:t>•  Enterprise sales / partnerships</a:t>
            </a:r>
          </a:p>
          <a:p>
            <a:pPr>
              <a:spcAft>
                <a:spcPts val="800"/>
              </a:spcAft>
              <a:defRPr sz="1200">
                <a:solidFill>
                  <a:srgbClr val="EBF1DF"/>
                </a:solidFill>
                <a:latin typeface="Aptos"/>
              </a:defRPr>
            </a:pPr>
            <a:r>
              <a:t>•  Fractional security &amp; privacy counsel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80644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F7169"/>
                </a:solidFill>
                <a:latin typeface="Aptos"/>
              </a:rPr>
              <a:t>Do not present placeholder biographies as facts.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5F7169"/>
                </a:solidFill>
                <a:latin typeface="Aptos"/>
              </a:rPr>
              <a:t>CONFIDENTIAL · INVESTOR DISCUSSION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6537960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>
                <a:solidFill>
                  <a:srgbClr val="5F7169"/>
                </a:solidFill>
                <a:latin typeface="Aptos"/>
              </a:rPr>
              <a:t>HIREWISE  ·  SEPTEMBER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1097280"/>
            <a:ext cx="4937760" cy="4937760"/>
          </a:xfrm>
          <a:prstGeom prst="ellipse">
            <a:avLst/>
          </a:prstGeom>
          <a:solidFill>
            <a:srgbClr val="1A4E44"/>
          </a:solidFill>
          <a:ln>
            <a:solidFill>
              <a:srgbClr val="1A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81160" y="137160"/>
            <a:ext cx="2834640" cy="2834640"/>
          </a:xfrm>
          <a:prstGeom prst="ellipse">
            <a:avLst/>
          </a:prstGeom>
          <a:solidFill>
            <a:srgbClr val="D5EB8B"/>
          </a:solidFill>
          <a:ln>
            <a:solidFill>
              <a:srgbClr val="D5E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50292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8" y="6858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5EB8B"/>
                </a:solidFill>
                <a:latin typeface="Aptos"/>
              </a:rPr>
              <a:t>THE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25880"/>
            <a:ext cx="699516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Build the trust layer
for better hiring.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172968"/>
            <a:ext cx="6400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BF1DF"/>
                </a:solidFill>
                <a:latin typeface="Aptos"/>
              </a:rPr>
              <a:t>Hirewise is seeking design partners, recruitment expertise
and pre-seed capital to move from a working foundation
to a validated commercial platform.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645152"/>
            <a:ext cx="6400800" cy="777240"/>
          </a:xfrm>
          <a:prstGeom prst="roundRect">
            <a:avLst/>
          </a:prstGeom>
          <a:solidFill>
            <a:srgbClr val="1A4E44"/>
          </a:solidFill>
          <a:ln w="12700">
            <a:solidFill>
              <a:srgbClr val="1A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928616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SMARTER HIRING.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4928616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5EB8B"/>
                </a:solidFill>
                <a:latin typeface="Aptos"/>
              </a:rPr>
              <a:t>FAIRER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4928616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HUMAN CONTROL.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6172200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BF1DF"/>
                </a:solidFill>
                <a:latin typeface="Aptos"/>
              </a:rPr>
              <a:t>Contact: [add founder email]  ·  Doha, Qatar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F7169"/>
                </a:solidFill>
                <a:latin typeface="Aptos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0D3932"/>
                </a:solidFill>
                <a:latin typeface="Aptos"/>
              </a:rPr>
              <a:t>Sources, assumptions &amp; diligence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09344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F7169"/>
                </a:solidFill>
                <a:latin typeface="Aptos"/>
              </a:rPr>
              <a:t>Prepared 13 September 2026. Verify all external and company data immediately before investor circulation.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84831"/>
            <a:ext cx="10835640" cy="2514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800">
                <a:solidFill>
                  <a:srgbClr val="5F7169"/>
                </a:solidFill>
                <a:latin typeface="Aptos"/>
              </a:defRPr>
            </a:pPr>
            <a:r>
              <a:t>•  Qatar MCIT — Digital Agenda 2030: https://www.mcit.gov.qa/en/nda</a:t>
            </a:r>
          </a:p>
          <a:p>
            <a:pPr>
              <a:spcAft>
                <a:spcPts val="600"/>
              </a:spcAft>
              <a:defRPr sz="800">
                <a:solidFill>
                  <a:srgbClr val="5F7169"/>
                </a:solidFill>
                <a:latin typeface="Aptos"/>
              </a:defRPr>
            </a:pPr>
            <a:r>
              <a:t>•  MCIT Digital Agenda 2030 summary — ~QAR 40B cumulative impact and 26,000 ICT jobs by 2030: https://www.mcit.gov.qa/wp-content/uploads/sites/4/2024/09/digital_agenda_2030_summary_english.pdf</a:t>
            </a:r>
          </a:p>
          <a:p>
            <a:pPr>
              <a:spcAft>
                <a:spcPts val="600"/>
              </a:spcAft>
              <a:defRPr sz="800">
                <a:solidFill>
                  <a:srgbClr val="5F7169"/>
                </a:solidFill>
                <a:latin typeface="Aptos"/>
              </a:defRPr>
            </a:pPr>
            <a:r>
              <a:t>•  Qatar Digital Economy Hub — ecosystem context: https://digitaleconomyhub.mcit.gov.qa/en</a:t>
            </a:r>
          </a:p>
          <a:p>
            <a:pPr>
              <a:spcAft>
                <a:spcPts val="600"/>
              </a:spcAft>
              <a:defRPr sz="800">
                <a:solidFill>
                  <a:srgbClr val="5F7169"/>
                </a:solidFill>
                <a:latin typeface="Aptos"/>
              </a:defRPr>
            </a:pPr>
            <a:r>
              <a:t>•  Qatar Central Bank — retail payment systems and QPAY context: https://www.qcb.gov.qa/en/Pages/Retail-payment-systems.aspx</a:t>
            </a:r>
          </a:p>
          <a:p>
            <a:pPr>
              <a:spcAft>
                <a:spcPts val="600"/>
              </a:spcAft>
              <a:defRPr sz="800">
                <a:solidFill>
                  <a:srgbClr val="5F7169"/>
                </a:solidFill>
                <a:latin typeface="Aptos"/>
              </a:defRPr>
            </a:pPr>
            <a:r>
              <a:t>•  Hirewise implementation evidence — repository tests, CI and docs/MILESTONES.md; no live customer/traction claim.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782312"/>
            <a:ext cx="10835640" cy="960120"/>
          </a:xfrm>
          <a:prstGeom prst="roundRect">
            <a:avLst/>
          </a:prstGeom>
          <a:solidFill>
            <a:srgbClr val="F8F8EF"/>
          </a:solidFill>
          <a:ln w="12700">
            <a:solidFill>
              <a:srgbClr val="DA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502920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D3932"/>
                </a:solidFill>
                <a:latin typeface="Aptos"/>
              </a:rPr>
              <a:t>Management assumptions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4956048"/>
            <a:ext cx="81838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F7169"/>
                </a:solidFill>
                <a:latin typeface="Aptos"/>
              </a:rPr>
              <a:t>Proposed pricing, QAR 1.5M funding ask, 18-month runway, design-partner targets and roadmap are illustrative. TAM/SAM/SOM, unit economics, founder details and commercial traction require primary validation.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5F7169"/>
                </a:solidFill>
                <a:latin typeface="Aptos"/>
              </a:rPr>
              <a:t>CONFIDENTIAL · VERIFY BEFORE EXTERNAL CIRCULATION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6537960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>
                <a:solidFill>
                  <a:srgbClr val="5F7169"/>
                </a:solidFill>
                <a:latin typeface="Aptos"/>
              </a:rPr>
              <a:t>HIREWISE  · 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Hirewise Investor Presentation</dc:title>
  <dc:subject>AI-assisted recruitment platform for Qatar</dc:subject>
  <dc:creator>Hirewise</dc:creator>
  <cp:keywords>Hirewise, recruitment, Qatar, investor, startup, responsible AI</cp:keywords>
  <dc:description>Figures labelled as assumptions require owner validation before circulation.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